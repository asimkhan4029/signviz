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77" r:id="rId10"/>
    <p:sldId id="269" r:id="rId11"/>
    <p:sldId id="270" r:id="rId12"/>
    <p:sldId id="271" r:id="rId13"/>
    <p:sldId id="272" r:id="rId14"/>
    <p:sldId id="276" r:id="rId15"/>
    <p:sldId id="273" r:id="rId16"/>
    <p:sldId id="275" r:id="rId17"/>
    <p:sldId id="274" r:id="rId18"/>
    <p:sldId id="266" r:id="rId19"/>
    <p:sldId id="267"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58" d="100"/>
          <a:sy n="58" d="100"/>
        </p:scale>
        <p:origin x="1520" y="28"/>
      </p:cViewPr>
      <p:guideLst>
        <p:guide orient="horz" pos="2160"/>
        <p:guide pos="290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8979"/>
            <a:ext cx="8229600" cy="45719"/>
          </a:xfrm>
        </p:spPr>
        <p:txBody>
          <a:bodyPr>
            <a:normAutofit fontScale="90000"/>
          </a:bodyPr>
          <a:lstStyle/>
          <a:p>
            <a:pPr>
              <a:lnSpc>
                <a:spcPct val="150000"/>
              </a:lnSpc>
            </a:pPr>
            <a:r>
              <a:rPr lang="en-US" sz="6600" dirty="0">
                <a:latin typeface="Times New Roman" panose="02020603050405020304" pitchFamily="18" charset="0"/>
                <a:cs typeface="Times New Roman" panose="02020603050405020304" pitchFamily="18" charset="0"/>
              </a:rPr>
              <a:t> </a:t>
            </a:r>
            <a:br>
              <a:rPr lang="en-US" sz="6600" dirty="0">
                <a:latin typeface="Times New Roman" panose="02020603050405020304" pitchFamily="18" charset="0"/>
                <a:cs typeface="Times New Roman" panose="02020603050405020304" pitchFamily="18" charset="0"/>
              </a:rPr>
            </a:br>
            <a:br>
              <a:rPr lang="en-US" sz="6600" dirty="0">
                <a:latin typeface="Times New Roman" panose="02020603050405020304" pitchFamily="18" charset="0"/>
                <a:cs typeface="Times New Roman" panose="02020603050405020304" pitchFamily="18" charset="0"/>
              </a:rPr>
            </a:br>
            <a:r>
              <a:rPr lang="en-US" sz="67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SignViz</a:t>
            </a:r>
            <a:br>
              <a:rPr lang="en-US" sz="66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Interactive Learning Platform For Deaf Students</a:t>
            </a:r>
            <a:br>
              <a:rPr lang="en-US"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a:t>
            </a:r>
            <a:endParaRPr sz="31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2687782"/>
            <a:ext cx="8229600" cy="3519055"/>
          </a:xfrm>
        </p:spPr>
        <p:txBody>
          <a:bodyPr>
            <a:normAutofit lnSpcReduction="10000"/>
          </a:bodyPr>
          <a:lstStyle/>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Group Members:</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Muhammad Asim Khan</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Muhammad Mursaleen</a:t>
            </a:r>
            <a:endParaRPr lang="en-US" sz="2800" dirty="0">
              <a:latin typeface="Times New Roman" panose="02020603050405020304" pitchFamily="18" charset="0"/>
              <a:cs typeface="Times New Roman" panose="02020603050405020304" pitchFamily="18" charset="0"/>
            </a:endParaRPr>
          </a:p>
          <a:p>
            <a:pPr marL="0" indent="0">
              <a:buNone/>
            </a:pPr>
            <a:br>
              <a:rPr lang="en-US" sz="2800"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Supervisor: </a:t>
            </a:r>
            <a:r>
              <a:rPr lang="en-US" sz="2800" dirty="0">
                <a:latin typeface="Times New Roman" panose="02020603050405020304" pitchFamily="18" charset="0"/>
                <a:cs typeface="Times New Roman" panose="02020603050405020304" pitchFamily="18" charset="0"/>
              </a:rPr>
              <a:t>Mr. Bilal</a:t>
            </a:r>
            <a:endParaRPr lang="en-US" sz="28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Industrial Partner: </a:t>
            </a:r>
            <a:r>
              <a:rPr lang="en-US" sz="2800" dirty="0" err="1">
                <a:latin typeface="Times New Roman" panose="02020603050405020304" pitchFamily="18" charset="0"/>
                <a:cs typeface="Times New Roman" panose="02020603050405020304" pitchFamily="18" charset="0"/>
              </a:rPr>
              <a:t>Victoriam</a:t>
            </a:r>
            <a:r>
              <a:rPr lang="en-US" sz="2800" dirty="0">
                <a:latin typeface="Times New Roman" panose="02020603050405020304" pitchFamily="18" charset="0"/>
                <a:cs typeface="Times New Roman" panose="02020603050405020304" pitchFamily="18" charset="0"/>
              </a:rPr>
              <a:t> AI</a:t>
            </a:r>
            <a:endParaRPr lang="en-US" sz="28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7" name="Picture 6" descr="Namal University"/>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9942"/>
            <a:ext cx="5737513" cy="1143000"/>
          </a:xfrm>
        </p:spPr>
        <p:txBody>
          <a:bodyPr>
            <a:normAutofit/>
          </a:bodyPr>
          <a:lstStyle/>
          <a:p>
            <a:r>
              <a:rPr sz="4000" b="1" dirty="0">
                <a:ln w="9525">
                  <a:solidFill>
                    <a:schemeClr val="bg1"/>
                  </a:solidFill>
                  <a:prstDash val="solid"/>
                </a:ln>
                <a:effectLst>
                  <a:outerShdw blurRad="12700" dist="38100" dir="2700000" algn="tl" rotWithShape="0">
                    <a:schemeClr val="bg1">
                      <a:lumMod val="50000"/>
                    </a:schemeClr>
                  </a:outerShdw>
                </a:effectLst>
              </a:rPr>
              <a:t>Introduction</a:t>
            </a:r>
            <a:endParaRPr sz="4000" b="1" dirty="0">
              <a:ln w="9525">
                <a:solidFill>
                  <a:schemeClr val="bg1"/>
                </a:solidFill>
                <a:prstDash val="solid"/>
              </a:ln>
              <a:effectLst>
                <a:outerShdw blurRad="12700" dist="38100" dir="2700000" algn="tl" rotWithShape="0">
                  <a:schemeClr val="bg1">
                    <a:lumMod val="50000"/>
                  </a:schemeClr>
                </a:outerShdw>
              </a:effectLst>
            </a:endParaRPr>
          </a:p>
        </p:txBody>
      </p:sp>
      <p:sp>
        <p:nvSpPr>
          <p:cNvPr id="3" name="Content Placeholder 2"/>
          <p:cNvSpPr>
            <a:spLocks noGrp="1"/>
          </p:cNvSpPr>
          <p:nvPr>
            <p:ph idx="1"/>
          </p:nvPr>
        </p:nvSpPr>
        <p:spPr>
          <a:xfrm>
            <a:off x="457200" y="1808018"/>
            <a:ext cx="5902036" cy="4525963"/>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Online learning platforms offer quality education through video-based courses. However, these platforms mainly rely on audio and subtitles, which are not fully accessible for deaf learners who use sign language.</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Our project solves this problem by converting existing lecture videos into ASL-based sign language lectures, bridging accessibility gap in education.</a:t>
            </a:r>
            <a:endParaRPr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94713" y="1450416"/>
            <a:ext cx="3157105" cy="4008438"/>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8" name="Picture 7" descr="Namal University"/>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9752"/>
            <a:ext cx="7994073" cy="1143000"/>
          </a:xfrm>
        </p:spPr>
        <p:txBody>
          <a:bodyPr>
            <a:normAutofit fontScale="90000"/>
          </a:bodyPr>
          <a:lstStyle/>
          <a:p>
            <a:br>
              <a:rPr lang="en-US" dirty="0"/>
            </a:br>
            <a:r>
              <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Objectives</a:t>
            </a:r>
            <a:br>
              <a:rPr lang="en-US" b="1" dirty="0">
                <a:latin typeface="Times New Roman" panose="02020603050405020304" pitchFamily="18" charset="0"/>
                <a:cs typeface="Times New Roman" panose="02020603050405020304" pitchFamily="18" charset="0"/>
              </a:rPr>
            </a:br>
            <a:endParaRPr b="1" dirty="0"/>
          </a:p>
        </p:txBody>
      </p:sp>
      <p:sp>
        <p:nvSpPr>
          <p:cNvPr id="3" name="Content Placeholder 2"/>
          <p:cNvSpPr>
            <a:spLocks noGrp="1"/>
          </p:cNvSpPr>
          <p:nvPr>
            <p:ph idx="1"/>
          </p:nvPr>
        </p:nvSpPr>
        <p:spPr>
          <a:xfrm>
            <a:off x="457200" y="1758899"/>
            <a:ext cx="8229600" cy="4367264"/>
          </a:xfrm>
        </p:spPr>
        <p:txBody>
          <a:bodyPr>
            <a:normAutofit/>
          </a:bodyPr>
          <a:lstStyle/>
          <a:p>
            <a:pPr algn="jus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Develop a web-based interactive learning platform</a:t>
            </a:r>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Automate the conversion of lecture videos into ASL</a:t>
            </a: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    based content</a:t>
            </a:r>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Improve accessibility for deaf learners in online education</a:t>
            </a:r>
            <a:endParaRPr lang="en-US" sz="28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8" name="Picture 7" descr="Namal University"/>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7689273" cy="1664999"/>
          </a:xfrm>
        </p:spPr>
        <p:txBody>
          <a:bodyPr>
            <a:normAutofit/>
          </a:bodyPr>
          <a:lstStyle/>
          <a:p>
            <a:r>
              <a:rPr sz="4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Literature</a:t>
            </a:r>
            <a:r>
              <a:rPr sz="4000" b="1" dirty="0">
                <a:ln w="9525">
                  <a:solidFill>
                    <a:schemeClr val="bg1"/>
                  </a:solidFill>
                  <a:prstDash val="solid"/>
                </a:ln>
                <a:effectLst>
                  <a:outerShdw blurRad="12700" dist="38100" dir="2700000" algn="tl" rotWithShape="0">
                    <a:schemeClr val="bg1">
                      <a:lumMod val="50000"/>
                    </a:schemeClr>
                  </a:outerShdw>
                </a:effectLst>
              </a:rPr>
              <a:t> Review</a:t>
            </a:r>
            <a:endParaRPr sz="4000" b="1" dirty="0">
              <a:ln w="9525">
                <a:solidFill>
                  <a:schemeClr val="bg1"/>
                </a:solidFill>
                <a:prstDash val="solid"/>
              </a:ln>
              <a:effectLst>
                <a:outerShdw blurRad="12700" dist="38100" dir="2700000" algn="tl" rotWithShape="0">
                  <a:schemeClr val="bg1">
                    <a:lumMod val="50000"/>
                  </a:schemeClr>
                </a:outerShdw>
              </a:effectLst>
            </a:endParaRPr>
          </a:p>
        </p:txBody>
      </p:sp>
      <p:sp>
        <p:nvSpPr>
          <p:cNvPr id="3" name="Content Placeholder 2"/>
          <p:cNvSpPr>
            <a:spLocks noGrp="1"/>
          </p:cNvSpPr>
          <p:nvPr>
            <p:ph idx="1"/>
          </p:nvPr>
        </p:nvSpPr>
        <p:spPr>
          <a:xfrm>
            <a:off x="457200" y="1939635"/>
            <a:ext cx="8229600" cy="4186527"/>
          </a:xfrm>
        </p:spPr>
        <p:txBody>
          <a:bodyPr>
            <a:normAutofit lnSpcReduction="10000"/>
          </a:bodyPr>
          <a:lstStyle/>
          <a:p>
            <a:pPr algn="just">
              <a:lnSpc>
                <a:spcPct val="1500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Sign language translation research has evolved using deep learning and 3D avatar technologies.</a:t>
            </a:r>
            <a:endParaRPr lang="en-US"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Hand Talk – avatar-based sign language translation</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Lifeprint – ASL dictionary and learning resources</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Sign</a:t>
            </a:r>
            <a:r>
              <a:rPr lang="en-US" sz="2800" dirty="0">
                <a:latin typeface="Times New Roman" panose="02020603050405020304" pitchFamily="18" charset="0"/>
                <a:cs typeface="Times New Roman" panose="02020603050405020304" pitchFamily="18" charset="0"/>
              </a:rPr>
              <a:t>apse</a:t>
            </a:r>
            <a:r>
              <a:rPr sz="2800" dirty="0">
                <a:latin typeface="Times New Roman" panose="02020603050405020304" pitchFamily="18" charset="0"/>
                <a:cs typeface="Times New Roman" panose="02020603050405020304" pitchFamily="18" charset="0"/>
              </a:rPr>
              <a:t> – avatar-based </a:t>
            </a:r>
            <a:r>
              <a:rPr lang="en-US" sz="2800" dirty="0">
                <a:latin typeface="Times New Roman" panose="02020603050405020304" pitchFamily="18" charset="0"/>
                <a:cs typeface="Times New Roman" panose="02020603050405020304" pitchFamily="18" charset="0"/>
              </a:rPr>
              <a:t>web content translator</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Existing systems lack full video-to-sign conversion</a:t>
            </a:r>
            <a:endParaRPr sz="28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8" name="Picture 7" descr="Namal University"/>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036" y="455767"/>
            <a:ext cx="8229600" cy="1143000"/>
          </a:xfrm>
        </p:spPr>
        <p:txBody>
          <a:bodyPr/>
          <a:lstStyle/>
          <a:p>
            <a:r>
              <a:rPr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System Overview</a:t>
            </a:r>
            <a:endParaRPr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2011555"/>
            <a:ext cx="8229600" cy="3438381"/>
          </a:xfrm>
        </p:spPr>
        <p:txBody>
          <a:bodyPr>
            <a:normAutofit lnSpcReduction="10000"/>
          </a:bodyPr>
          <a:lstStyle/>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Web-based interactive learning platform</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Accepts pre-recorded lecture videos</a:t>
            </a:r>
            <a:endParaRPr lang="en-US"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Works on video URL as well</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Automated processing pipeline</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Targets deaf learners and learning platforms</a:t>
            </a:r>
            <a:endParaRPr sz="2800" dirty="0">
              <a:latin typeface="Times New Roman" panose="02020603050405020304" pitchFamily="18" charset="0"/>
              <a:cs typeface="Times New Roman" panose="02020603050405020304" pitchFamily="18" charset="0"/>
            </a:endParaRPr>
          </a:p>
        </p:txBody>
      </p:sp>
      <p:pic>
        <p:nvPicPr>
          <p:cNvPr id="6" name="Picture 5"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6964"/>
            <a:ext cx="8229600" cy="1325562"/>
          </a:xfrm>
        </p:spPr>
        <p:txBody>
          <a:bodyPr>
            <a:normAutofit fontScale="90000"/>
          </a:bodyPr>
          <a:lstStyle/>
          <a:p>
            <a:br>
              <a:rPr lang="en-US" dirty="0">
                <a:latin typeface="Times New Roman" panose="02020603050405020304" pitchFamily="18" charset="0"/>
                <a:cs typeface="Times New Roman" panose="02020603050405020304" pitchFamily="18" charset="0"/>
              </a:rPr>
            </a:br>
            <a:r>
              <a:rPr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Processing Pipeline</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884218"/>
            <a:ext cx="8229600" cy="4241945"/>
          </a:xfrm>
        </p:spPr>
        <p:txBody>
          <a:bodyPr>
            <a:normAutofit lnSpcReduction="10000"/>
          </a:bodyPr>
          <a:lstStyle/>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Video Upload</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Audio Extraction</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Speech-to-Text Conversion</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Text-to-ASL Gloss Transformation</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Avatar-Based Sign Generation</a:t>
            </a:r>
            <a:endParaRPr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sz="2800" dirty="0">
                <a:latin typeface="Times New Roman" panose="02020603050405020304" pitchFamily="18" charset="0"/>
                <a:cs typeface="Times New Roman" panose="02020603050405020304" pitchFamily="18" charset="0"/>
              </a:rPr>
              <a:t>Visual Sign Language Output</a:t>
            </a:r>
            <a:endParaRPr sz="28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7" name="Picture 6" descr="Namal University"/>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1824"/>
            <a:ext cx="6761018" cy="1196975"/>
          </a:xfrm>
        </p:spPr>
        <p:txBody>
          <a:bodyPr/>
          <a:lstStyle/>
          <a:p>
            <a:r>
              <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Functional Requirements</a:t>
            </a:r>
            <a:endParaRPr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199" y="1828798"/>
            <a:ext cx="8368145" cy="4613565"/>
          </a:xfrm>
        </p:spPr>
        <p:txBody>
          <a:bodyPr>
            <a:normAutofit/>
          </a:bodyPr>
          <a:lstStyle/>
          <a:p>
            <a:pPr marL="400050" lvl="1" indent="0" algn="just">
              <a:buNone/>
            </a:pPr>
            <a:r>
              <a:rPr lang="en-US" sz="2000" dirty="0">
                <a:latin typeface="Times New Roman" panose="02020603050405020304" pitchFamily="18" charset="0"/>
                <a:cs typeface="Times New Roman" panose="02020603050405020304" pitchFamily="18" charset="0"/>
              </a:rPr>
              <a:t> FR-01: The system shall allow deaf users to sign up   and log in securely.</a:t>
            </a:r>
            <a:endParaRPr lang="en-US" sz="2000" dirty="0">
              <a:latin typeface="Times New Roman" panose="02020603050405020304" pitchFamily="18" charset="0"/>
              <a:cs typeface="Times New Roman" panose="02020603050405020304" pitchFamily="18" charset="0"/>
            </a:endParaRPr>
          </a:p>
          <a:p>
            <a:pPr marL="400050" lvl="1" indent="0" algn="just">
              <a:buNone/>
            </a:pPr>
            <a:r>
              <a:rPr lang="en-US" sz="2000" dirty="0">
                <a:latin typeface="Times New Roman" panose="02020603050405020304" pitchFamily="18" charset="0"/>
                <a:cs typeface="Times New Roman" panose="02020603050405020304" pitchFamily="18" charset="0"/>
              </a:rPr>
              <a:t> FR-02: The system shall allow users to view and update their profile.</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FR-03: The system shall allow users to upload video lectures.</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FR-04: The system shall allow users to 	manage their uploaded content.</a:t>
            </a:r>
            <a:endParaRPr lang="en-US" sz="2000" dirty="0">
              <a:latin typeface="Times New Roman" panose="02020603050405020304" pitchFamily="18" charset="0"/>
              <a:cs typeface="Times New Roman" panose="02020603050405020304" pitchFamily="18" charset="0"/>
            </a:endParaRPr>
          </a:p>
          <a:p>
            <a:pPr marL="400050" lvl="1" indent="0" algn="just">
              <a:buNone/>
            </a:pPr>
            <a:r>
              <a:rPr lang="en-US" sz="2000" dirty="0">
                <a:latin typeface="Times New Roman" panose="02020603050405020304" pitchFamily="18" charset="0"/>
                <a:cs typeface="Times New Roman" panose="02020603050405020304" pitchFamily="18" charset="0"/>
              </a:rPr>
              <a:t> FR-05: The system shall allow users to convert lecture videos to Avatar</a:t>
            </a:r>
            <a:endParaRPr lang="en-US" sz="2000" dirty="0">
              <a:latin typeface="Times New Roman" panose="02020603050405020304" pitchFamily="18" charset="0"/>
              <a:cs typeface="Times New Roman" panose="02020603050405020304" pitchFamily="18" charset="0"/>
            </a:endParaRPr>
          </a:p>
          <a:p>
            <a:pPr marL="400050" lvl="1" indent="0" algn="just">
              <a:buNone/>
            </a:pPr>
            <a:r>
              <a:rPr lang="en-US" sz="2000" dirty="0">
                <a:latin typeface="Times New Roman" panose="02020603050405020304" pitchFamily="18" charset="0"/>
                <a:cs typeface="Times New Roman" panose="02020603050405020304" pitchFamily="18" charset="0"/>
              </a:rPr>
              <a:t> FR-06: The system shall allow users to organize their library.</a:t>
            </a:r>
            <a:endParaRPr lang="en-US" sz="2000" dirty="0">
              <a:latin typeface="Times New Roman" panose="02020603050405020304" pitchFamily="18" charset="0"/>
              <a:cs typeface="Times New Roman" panose="02020603050405020304" pitchFamily="18" charset="0"/>
            </a:endParaRPr>
          </a:p>
          <a:p>
            <a:pPr marL="400050" lvl="1" indent="0" algn="just">
              <a:buNone/>
            </a:pPr>
            <a:endParaRPr dirty="0"/>
          </a:p>
        </p:txBody>
      </p:sp>
      <p:pic>
        <p:nvPicPr>
          <p:cNvPr id="5" name="Picture 4"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1497"/>
            <a:ext cx="1716157" cy="1555788"/>
          </a:xfrm>
          <a:prstGeom prst="rect">
            <a:avLst/>
          </a:prstGeom>
          <a:noFill/>
          <a:ln>
            <a:noFill/>
          </a:ln>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28700"/>
            <a:ext cx="7633855" cy="1143000"/>
          </a:xfrm>
        </p:spPr>
        <p:txBody>
          <a:bodyPr>
            <a:normAutofit fontScale="90000"/>
          </a:bodyPr>
          <a:lstStyle/>
          <a:p>
            <a:r>
              <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Non-Functional Requirements</a:t>
            </a:r>
            <a:b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998517"/>
            <a:ext cx="8229600" cy="4525963"/>
          </a:xfrm>
        </p:spPr>
        <p:txBody>
          <a:bodyPr>
            <a:normAutofit/>
          </a:bodyPr>
          <a:lstStyle/>
          <a:p>
            <a:pPr lvl="1"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Performance: support 1000 users at a time</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Scalability: system shall support the addition of thousands of lecture videos without system failure.</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Security: system secure user profile and user library </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Compatibility: system shall operate correctly on modern web browsers i.e. Chrome, Edge.</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Reliability: 99% system availability, excluding scheduled maintenance</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5" name="Picture 4"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98764"/>
            <a:ext cx="7744691" cy="918874"/>
          </a:xfrm>
          <a:ln w="38100">
            <a:noFill/>
            <a:prstDash val="dashDot"/>
          </a:ln>
        </p:spPr>
        <p:txBody>
          <a:bodyPr/>
          <a:lstStyle/>
          <a:p>
            <a:r>
              <a:rPr lang="en-US" b="1" dirty="0">
                <a:ln w="9525">
                  <a:solidFill>
                    <a:schemeClr val="bg1"/>
                  </a:solidFill>
                  <a:prstDash val="solid"/>
                </a:ln>
                <a:effectLst>
                  <a:outerShdw blurRad="12700" dist="38100" dir="2700000" algn="tl" rotWithShape="0">
                    <a:schemeClr val="bg1">
                      <a:lumMod val="50000"/>
                    </a:schemeClr>
                  </a:outerShdw>
                </a:effectLst>
              </a:rPr>
              <a:t>Data Flow Diagrams Level 1</a:t>
            </a:r>
            <a:endParaRPr lang="en-US" dirty="0"/>
          </a:p>
        </p:txBody>
      </p:sp>
      <p:pic>
        <p:nvPicPr>
          <p:cNvPr id="4" name="Content Placeholder 3"/>
          <p:cNvPicPr>
            <a:picLocks noGrp="1"/>
          </p:cNvPicPr>
          <p:nvPr>
            <p:ph idx="1"/>
          </p:nvPr>
        </p:nvPicPr>
        <p:blipFill>
          <a:blip r:embed="rId1">
            <a:extLst>
              <a:ext uri="{28A0092B-C50C-407E-A947-70E740481C1C}">
                <a14:useLocalDpi xmlns:a14="http://schemas.microsoft.com/office/drawing/2010/main" val="0"/>
              </a:ext>
            </a:extLst>
          </a:blip>
          <a:stretch>
            <a:fillRect/>
          </a:stretch>
        </p:blipFill>
        <p:spPr>
          <a:xfrm>
            <a:off x="1122218" y="1417638"/>
            <a:ext cx="6497782" cy="5105400"/>
          </a:xfrm>
          <a:prstGeom prst="rect">
            <a:avLst/>
          </a:prstGeom>
          <a:ln w="38100">
            <a:noFill/>
          </a:ln>
        </p:spPr>
      </p:pic>
      <p:pic>
        <p:nvPicPr>
          <p:cNvPr id="5" name="Picture 4" descr="Namal University"/>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9525">
                  <a:solidFill>
                    <a:schemeClr val="bg1"/>
                  </a:solidFill>
                  <a:prstDash val="solid"/>
                </a:ln>
                <a:effectLst>
                  <a:outerShdw blurRad="12700" dist="38100" dir="2700000" algn="tl" rotWithShape="0">
                    <a:schemeClr val="bg1">
                      <a:lumMod val="50000"/>
                    </a:schemeClr>
                  </a:outerShdw>
                </a:effectLst>
              </a:rPr>
              <a:t>USE CASE DIAGRAM</a:t>
            </a:r>
            <a:endParaRPr lang="en-US" b="1" dirty="0">
              <a:ln w="9525">
                <a:solidFill>
                  <a:schemeClr val="bg1"/>
                </a:solidFill>
                <a:prstDash val="solid"/>
              </a:ln>
              <a:effectLst>
                <a:outerShdw blurRad="12700" dist="38100" dir="2700000" algn="tl" rotWithShape="0">
                  <a:schemeClr val="bg1">
                    <a:lumMod val="50000"/>
                  </a:schemeClr>
                </a:outerShdw>
              </a:effectLst>
            </a:endParaRPr>
          </a:p>
        </p:txBody>
      </p:sp>
      <p:pic>
        <p:nvPicPr>
          <p:cNvPr id="6" name="Picture 5"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
        <p:nvSpPr>
          <p:cNvPr id="3" name="Content Placeholder 2"/>
          <p:cNvSpPr>
            <a:spLocks noGrp="1"/>
          </p:cNvSpPr>
          <p:nvPr>
            <p:ph idx="1"/>
          </p:nvPr>
        </p:nvSpPr>
        <p:spPr/>
        <p:txBody>
          <a:bodyPr/>
          <a:lstStyle/>
          <a:p>
            <a:pPr marL="0" indent="0">
              <a:buNone/>
            </a:pPr>
            <a:endParaRPr lang="en-US" dirty="0"/>
          </a:p>
        </p:txBody>
      </p:sp>
      <p:pic>
        <p:nvPicPr>
          <p:cNvPr id="5" name="Picture 4"/>
          <p:cNvPicPr>
            <a:picLocks noChangeAspect="1"/>
          </p:cNvPicPr>
          <p:nvPr/>
        </p:nvPicPr>
        <p:blipFill>
          <a:blip r:embed="rId3"/>
          <a:stretch>
            <a:fillRect/>
          </a:stretch>
        </p:blipFill>
        <p:spPr>
          <a:xfrm>
            <a:off x="457199" y="1545674"/>
            <a:ext cx="7994073" cy="45804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81455" cy="1143000"/>
          </a:xfrm>
        </p:spPr>
        <p:txBody>
          <a:bodyPr>
            <a:normAutofit/>
          </a:bodyPr>
          <a:lstStyle/>
          <a:p>
            <a:r>
              <a:rPr lang="en-US" b="1" dirty="0">
                <a:ln w="9525">
                  <a:solidFill>
                    <a:schemeClr val="bg1"/>
                  </a:solidFill>
                  <a:prstDash val="solid"/>
                </a:ln>
                <a:effectLst>
                  <a:outerShdw blurRad="12700" dist="38100" dir="2700000" algn="tl" rotWithShape="0">
                    <a:schemeClr val="bg1">
                      <a:lumMod val="50000"/>
                    </a:schemeClr>
                  </a:outerShdw>
                </a:effectLst>
              </a:rPr>
              <a:t>Architecture Diagram</a:t>
            </a:r>
            <a:endParaRPr lang="en-US" b="1" dirty="0">
              <a:ln w="9525">
                <a:solidFill>
                  <a:schemeClr val="bg1"/>
                </a:solidFill>
                <a:prstDash val="solid"/>
              </a:ln>
              <a:effectLst>
                <a:outerShdw blurRad="12700" dist="38100" dir="2700000" algn="tl" rotWithShape="0">
                  <a:schemeClr val="bg1">
                    <a:lumMod val="50000"/>
                  </a:schemeClr>
                </a:outerShdw>
              </a:effectLst>
            </a:endParaRPr>
          </a:p>
        </p:txBody>
      </p:sp>
      <p:pic>
        <p:nvPicPr>
          <p:cNvPr id="5" name="Picture 4"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8" name="Content Placeholder 7"/>
          <p:cNvPicPr>
            <a:picLocks noChangeAspect="1"/>
          </p:cNvPicPr>
          <p:nvPr>
            <p:ph idx="1"/>
          </p:nvPr>
        </p:nvPicPr>
        <p:blipFill>
          <a:blip r:embed="rId3"/>
          <a:stretch>
            <a:fillRect/>
          </a:stretch>
        </p:blipFill>
        <p:spPr>
          <a:xfrm>
            <a:off x="457200" y="1858645"/>
            <a:ext cx="8229600" cy="34658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58545" cy="1143000"/>
          </a:xfrm>
        </p:spPr>
        <p:txBody>
          <a:bodyPr>
            <a:normAutofit/>
          </a:bodyPr>
          <a:lstStyle/>
          <a:p>
            <a:r>
              <a:rPr lang="en-US" sz="4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System Sequence Diagram</a:t>
            </a:r>
            <a:endParaRPr lang="en-US" sz="4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pic>
        <p:nvPicPr>
          <p:cNvPr id="12" name="Content Placeholder 11"/>
          <p:cNvPicPr>
            <a:picLocks noGrp="1" noChangeAspect="1"/>
          </p:cNvPicPr>
          <p:nvPr>
            <p:ph idx="1"/>
          </p:nvPr>
        </p:nvPicPr>
        <p:blipFill>
          <a:blip r:embed="rId1"/>
          <a:stretch>
            <a:fillRect/>
          </a:stretch>
        </p:blipFill>
        <p:spPr>
          <a:xfrm>
            <a:off x="641385" y="1600200"/>
            <a:ext cx="3538611" cy="4953000"/>
          </a:xfrm>
          <a:prstGeom prst="rect">
            <a:avLst/>
          </a:prstGeom>
        </p:spPr>
      </p:pic>
      <p:pic>
        <p:nvPicPr>
          <p:cNvPr id="15" name="Picture 14"/>
          <p:cNvPicPr>
            <a:picLocks noChangeAspect="1"/>
          </p:cNvPicPr>
          <p:nvPr/>
        </p:nvPicPr>
        <p:blipFill>
          <a:blip r:embed="rId2"/>
          <a:stretch>
            <a:fillRect/>
          </a:stretch>
        </p:blipFill>
        <p:spPr>
          <a:xfrm>
            <a:off x="4179996" y="1600200"/>
            <a:ext cx="4506804" cy="4952999"/>
          </a:xfrm>
          <a:prstGeom prst="rect">
            <a:avLst/>
          </a:prstGeom>
        </p:spPr>
      </p:pic>
      <p:pic>
        <p:nvPicPr>
          <p:cNvPr id="16" name="Picture 15" descr="Namal University"/>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89038"/>
            <a:ext cx="8229600" cy="4408198"/>
          </a:xfrm>
        </p:spPr>
        <p:txBody>
          <a:bodyPr>
            <a:normAutofit/>
          </a:bodyPr>
          <a:lstStyle/>
          <a:p>
            <a:r>
              <a:rPr lang="en-US" sz="6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User Interfaces</a:t>
            </a:r>
            <a:endParaRPr lang="en-US" sz="6600" dirty="0">
              <a:latin typeface="Times New Roman" panose="02020603050405020304" pitchFamily="18" charset="0"/>
              <a:cs typeface="Times New Roman" panose="02020603050405020304" pitchFamily="18" charset="0"/>
            </a:endParaRPr>
          </a:p>
        </p:txBody>
      </p:sp>
      <p:pic>
        <p:nvPicPr>
          <p:cNvPr id="3" name="Picture 2"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HOME PAGE</a:t>
            </a:r>
            <a:endPar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pic>
        <p:nvPicPr>
          <p:cNvPr id="6" name="Picture 5"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5" name="Content Placeholder 4"/>
          <p:cNvPicPr>
            <a:picLocks noChangeAspect="1"/>
          </p:cNvPicPr>
          <p:nvPr>
            <p:ph idx="1"/>
          </p:nvPr>
        </p:nvPicPr>
        <p:blipFill>
          <a:blip r:embed="rId3"/>
          <a:stretch>
            <a:fillRect/>
          </a:stretch>
        </p:blipFill>
        <p:spPr>
          <a:xfrm>
            <a:off x="457200" y="1611630"/>
            <a:ext cx="8229600" cy="45021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6572"/>
            <a:ext cx="8229600" cy="1143000"/>
          </a:xfrm>
        </p:spPr>
        <p:txBody>
          <a:bodyPr/>
          <a:lstStyle/>
          <a:p>
            <a:r>
              <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DASHBOARD</a:t>
            </a:r>
            <a:endPar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pic>
        <p:nvPicPr>
          <p:cNvPr id="5" name="Picture 4"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7" name="Content Placeholder 6"/>
          <p:cNvPicPr>
            <a:picLocks noChangeAspect="1"/>
          </p:cNvPicPr>
          <p:nvPr>
            <p:ph idx="1"/>
          </p:nvPr>
        </p:nvPicPr>
        <p:blipFill>
          <a:blip r:embed="rId3"/>
          <a:stretch>
            <a:fillRect/>
          </a:stretch>
        </p:blipFill>
        <p:spPr>
          <a:xfrm>
            <a:off x="546735" y="1600200"/>
            <a:ext cx="8049895" cy="4526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TRANSLATION PAGE</a:t>
            </a:r>
            <a:endParaRPr lang="en-US" sz="4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pic>
        <p:nvPicPr>
          <p:cNvPr id="5" name="Picture 4"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7" name="Content Placeholder 6"/>
          <p:cNvPicPr>
            <a:picLocks noChangeAspect="1"/>
          </p:cNvPicPr>
          <p:nvPr>
            <p:ph idx="1"/>
          </p:nvPr>
        </p:nvPicPr>
        <p:blipFill>
          <a:blip r:embed="rId3"/>
          <a:stretch>
            <a:fillRect/>
          </a:stretch>
        </p:blipFill>
        <p:spPr>
          <a:xfrm>
            <a:off x="457200" y="1808480"/>
            <a:ext cx="8229600" cy="41084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1164"/>
            <a:ext cx="8229600" cy="1143000"/>
          </a:xfrm>
        </p:spPr>
        <p:txBody>
          <a:bodyPr>
            <a:normAutofit/>
          </a:bodyPr>
          <a:lstStyle/>
          <a:p>
            <a:r>
              <a:rPr sz="4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Conclusion</a:t>
            </a:r>
            <a:endParaRPr sz="40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2040698"/>
            <a:ext cx="8229600" cy="4075690"/>
          </a:xfrm>
        </p:spPr>
        <p:txBody>
          <a:bodyPr>
            <a:normAutofit/>
          </a:bodyPr>
          <a:lstStyle/>
          <a:p>
            <a:pPr marL="0" indent="0" algn="just">
              <a:buNone/>
            </a:pPr>
            <a:r>
              <a:rPr lang="en-US" sz="2800" dirty="0" err="1">
                <a:latin typeface="Times New Roman" panose="02020603050405020304" pitchFamily="18" charset="0"/>
                <a:cs typeface="Times New Roman" panose="02020603050405020304" pitchFamily="18" charset="0"/>
              </a:rPr>
              <a:t>SignViz</a:t>
            </a:r>
            <a:r>
              <a:rPr lang="en-US" sz="2800" dirty="0">
                <a:latin typeface="Times New Roman" panose="02020603050405020304" pitchFamily="18" charset="0"/>
                <a:cs typeface="Times New Roman" panose="02020603050405020304" pitchFamily="18" charset="0"/>
              </a:rPr>
              <a:t> addresses the accessibility gap in online education by providing an automated system for converting lecture videos into ASL based sign language content. It improves the accessibility gap and enable deaf students to learn at the same pace as of Normal student.</a:t>
            </a:r>
            <a:endParaRPr sz="2800" i="1" dirty="0">
              <a:latin typeface="Times New Roman" panose="02020603050405020304" pitchFamily="18" charset="0"/>
              <a:cs typeface="Times New Roman" panose="02020603050405020304" pitchFamily="18" charset="0"/>
            </a:endParaRPr>
          </a:p>
        </p:txBody>
      </p:sp>
      <p:pic>
        <p:nvPicPr>
          <p:cNvPr id="6" name="Picture 5" descr="Namal University"/>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4089545"/>
          </a:xfrm>
        </p:spPr>
        <p:txBody>
          <a:bodyPr>
            <a:normAutofit/>
          </a:bodyPr>
          <a:lstStyle/>
          <a:p>
            <a:br>
              <a:rPr lang="en-US" sz="9600" dirty="0"/>
            </a:br>
            <a:r>
              <a:rPr sz="9600"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Thank You</a:t>
            </a:r>
            <a:endParaRPr sz="9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3948545"/>
            <a:ext cx="8229600" cy="1427020"/>
          </a:xfrm>
        </p:spPr>
        <p:txBody>
          <a:bodyPr>
            <a:normAutofit fontScale="55000" lnSpcReduction="20000"/>
          </a:bodyPr>
          <a:lstStyle/>
          <a:p>
            <a:pPr marL="0" indent="0">
              <a:buNone/>
            </a:pPr>
            <a:endParaRPr lang="en-US" dirty="0"/>
          </a:p>
          <a:p>
            <a:pPr marL="0" indent="0">
              <a:buNone/>
            </a:pPr>
            <a:endParaRPr lang="en-US" dirty="0"/>
          </a:p>
          <a:p>
            <a:pPr marL="0" indent="0">
              <a:buNone/>
            </a:pPr>
            <a:endParaRPr lang="en-US" dirty="0"/>
          </a:p>
          <a:p>
            <a:pPr marL="0" indent="0">
              <a:buNone/>
            </a:pPr>
            <a:r>
              <a:rPr i="1" dirty="0"/>
              <a:t>Department of Computer Science</a:t>
            </a:r>
            <a:endParaRPr i="1" dirty="0"/>
          </a:p>
          <a:p>
            <a:pPr marL="0" indent="0">
              <a:buNone/>
            </a:pPr>
            <a:r>
              <a:rPr i="1" dirty="0"/>
              <a:t>Namal University, Mianwali</a:t>
            </a:r>
            <a:endParaRPr i="1"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39891" y="5533881"/>
            <a:ext cx="1704109" cy="1988127"/>
          </a:xfrm>
          <a:prstGeom prst="rect">
            <a:avLst/>
          </a:prstGeom>
        </p:spPr>
      </p:pic>
      <p:pic>
        <p:nvPicPr>
          <p:cNvPr id="6" name="Picture 5" descr="Namal University"/>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7843" y="96964"/>
            <a:ext cx="1716157" cy="155578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2686</Words>
  <Application>WPS Presentation</Application>
  <PresentationFormat>On-screen Show (4:3)</PresentationFormat>
  <Paragraphs>93</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Arial</vt:lpstr>
      <vt:lpstr>Times New Roman</vt:lpstr>
      <vt:lpstr>Microsoft YaHei</vt:lpstr>
      <vt:lpstr>Arial Unicode MS</vt:lpstr>
      <vt:lpstr>Calibri</vt:lpstr>
      <vt:lpstr>Office Theme</vt:lpstr>
      <vt:lpstr>   SignViz Interactive Learning Platform For Deaf Students  </vt:lpstr>
      <vt:lpstr>Introduction</vt:lpstr>
      <vt:lpstr> Objectives </vt:lpstr>
      <vt:lpstr>Literature Review</vt:lpstr>
      <vt:lpstr>System Overview</vt:lpstr>
      <vt:lpstr> Processing Pipeline</vt:lpstr>
      <vt:lpstr>Functional Requirements</vt:lpstr>
      <vt:lpstr>Non-Functional Requirements </vt:lpstr>
      <vt:lpstr>Data Flow Diagrams Level 1</vt:lpstr>
      <vt:lpstr>USE CASE DIAGRAM</vt:lpstr>
      <vt:lpstr>Entity Relationship Diagram</vt:lpstr>
      <vt:lpstr>System Sequence Diagram</vt:lpstr>
      <vt:lpstr>User Interfaces</vt:lpstr>
      <vt:lpstr>LANDING PAGE</vt:lpstr>
      <vt:lpstr>DASHBOARD</vt:lpstr>
      <vt:lpstr>LOGIN PAGE</vt:lpstr>
      <vt:lpstr>Conclusion</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SignViz  </dc:title>
  <dc:creator/>
  <dc:description>generated using python-pptx</dc:description>
  <cp:lastModifiedBy>Muhammad Asim Khan</cp:lastModifiedBy>
  <cp:revision>38</cp:revision>
  <dcterms:created xsi:type="dcterms:W3CDTF">2013-01-27T09:14:00Z</dcterms:created>
  <dcterms:modified xsi:type="dcterms:W3CDTF">2026-06-29T04:32:13Z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41C461B5D6A4496E8CEA5E619A54A9B0_12</vt:lpwstr>
  </property>
</Properties>
</file>